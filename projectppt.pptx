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65" r:id="rId4"/>
    <p:sldId id="266" r:id="rId5"/>
    <p:sldId id="263" r:id="rId6"/>
    <p:sldId id="258" r:id="rId7"/>
    <p:sldId id="260" r:id="rId8"/>
    <p:sldId id="261" r:id="rId9"/>
    <p:sldId id="268" r:id="rId10"/>
    <p:sldId id="270" r:id="rId11"/>
    <p:sldId id="271" r:id="rId12"/>
    <p:sldId id="272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830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83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415" marR="18415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fld id="{1458EDB8-E42A-48D8-A74E-C5560E6554DA}" type="datetimeFigureOut">
              <a:rPr lang="en-US" smtClean="0"/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fld id="{B859C8F2-D6E2-474F-A6B2-3AD14DD8E9C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65430" indent="-265430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 panose="05020102010507070707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295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 panose="020B0604030504040204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130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 panose="05020102010507070707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255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 panose="020B0604030504040204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53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1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4170" y="317500"/>
            <a:ext cx="8461375" cy="617982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93140" y="503555"/>
            <a:ext cx="7035165" cy="318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6600" b="1" i="1">
                <a:solidFill>
                  <a:srgbClr val="FFFF00"/>
                </a:solidFill>
                <a:ea typeface="Microsoft YaHei" panose="020B0503020204020204" charset="-122"/>
                <a:cs typeface="+mn-lt"/>
              </a:rPr>
              <a:t>CYBER CRIME       ANALYSIS</a:t>
            </a:r>
            <a:endParaRPr lang="en-US" sz="6600" b="1" i="1">
              <a:solidFill>
                <a:srgbClr val="FFFF00"/>
              </a:solidFill>
              <a:ea typeface="Microsoft YaHei" panose="020B0503020204020204" charset="-122"/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048000" y="3916680"/>
            <a:ext cx="5473065" cy="204978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3600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a typeface="Microsoft YaHei" panose="020B0503020204020204" charset="-122"/>
                <a:cs typeface="+mn-lt"/>
              </a:rPr>
              <a:t>By Lovepreet Kaur</a:t>
            </a:r>
            <a:endParaRPr lang="en-US" sz="3600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a typeface="Microsoft YaHei" panose="020B0503020204020204" charset="-122"/>
              <a:cs typeface="+mn-lt"/>
            </a:endParaRPr>
          </a:p>
          <a:p>
            <a:pPr algn="l"/>
            <a:r>
              <a:rPr lang="en-US" sz="3600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a typeface="Microsoft YaHei" panose="020B0503020204020204" charset="-122"/>
                <a:cs typeface="+mn-lt"/>
              </a:rPr>
              <a:t>Course:Btech AIML</a:t>
            </a:r>
            <a:endParaRPr lang="en-US" sz="3600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a typeface="Microsoft YaHei" panose="020B0503020204020204" charset="-122"/>
              <a:cs typeface="+mn-lt"/>
            </a:endParaRPr>
          </a:p>
          <a:p>
            <a:pPr algn="l"/>
            <a:r>
              <a:rPr lang="en-US" sz="3600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ea typeface="Microsoft YaHei" panose="020B0503020204020204" charset="-122"/>
                <a:cs typeface="+mn-lt"/>
              </a:rPr>
              <a:t>JULY 2026</a:t>
            </a:r>
            <a:endParaRPr lang="en-US" sz="3600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ea typeface="Microsoft YaHei" panose="020B0503020204020204" charset="-122"/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2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tretch>
            <a:fillRect/>
          </a:stretch>
        </p:blipFill>
        <p:spPr>
          <a:xfrm>
            <a:off x="262890" y="305435"/>
            <a:ext cx="8573135" cy="62566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03985" y="488315"/>
            <a:ext cx="5617845" cy="92646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sz="6000" b="1" i="1">
                <a:solidFill>
                  <a:srgbClr val="FF0000"/>
                </a:solidFill>
                <a:ea typeface="Microsoft YaHei" panose="020B0503020204020204" charset="-122"/>
                <a:cs typeface="+mn-lt"/>
              </a:rPr>
              <a:t>Introduction</a:t>
            </a:r>
            <a:endParaRPr lang="en-US" sz="6000" b="1" i="1">
              <a:solidFill>
                <a:srgbClr val="FF0000"/>
              </a:solidFill>
              <a:ea typeface="Microsoft YaHei" panose="020B0503020204020204" charset="-122"/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5940" y="2241550"/>
            <a:ext cx="7916545" cy="40201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charset="-122"/>
              </a:rPr>
              <a:t>Digital transformation and rising cyber attacks.</a:t>
            </a:r>
            <a:endParaRPr lang="en-US" sz="36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charset="-122"/>
              </a:rPr>
              <a:t>Growth in online attacks and industries.</a:t>
            </a:r>
            <a:endParaRPr lang="en-US" sz="36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charset="-122"/>
              </a:rPr>
              <a:t>Impact on privacy,data and finances.</a:t>
            </a:r>
            <a:endParaRPr lang="en-US" sz="36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600" b="1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ea typeface="Microsoft YaHei" panose="020B0503020204020204" charset="-122"/>
              </a:rPr>
              <a:t>Need for cyber crime analysis.</a:t>
            </a:r>
            <a:endParaRPr lang="en-US" sz="3600" b="1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 3"/>
          <p:cNvPicPr>
            <a:picLocks noChangeAspect="1"/>
          </p:cNvPicPr>
          <p:nvPr/>
        </p:nvPicPr>
        <p:blipFill>
          <a:blip r:embed="rId1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11785" y="327660"/>
            <a:ext cx="8581390" cy="6269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 Box 2"/>
          <p:cNvSpPr txBox="1"/>
          <p:nvPr/>
        </p:nvSpPr>
        <p:spPr>
          <a:xfrm>
            <a:off x="1733550" y="991870"/>
            <a:ext cx="6315710" cy="184086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5400" b="1" i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lgerian" panose="04020705040A02060702" pitchFamily="82" charset="0"/>
                <a:ea typeface="Microsoft YaHei" panose="020B0503020204020204" charset="-122"/>
                <a:cs typeface="Algerian" panose="04020705040A02060702" pitchFamily="82" charset="0"/>
              </a:rPr>
              <a:t>CORE PROBLEM</a:t>
            </a:r>
            <a:endParaRPr lang="en-US" sz="5400" b="1" i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lgerian" panose="04020705040A02060702" pitchFamily="82" charset="0"/>
              <a:ea typeface="Microsoft YaHei" panose="020B0503020204020204" charset="-122"/>
              <a:cs typeface="Algerian" panose="04020705040A02060702" pitchFamily="82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85545" y="2426335"/>
            <a:ext cx="6931025" cy="305181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42900" indent="-342900" algn="l">
              <a:buAutoNum type="arabicPeriod"/>
            </a:pPr>
            <a:r>
              <a:rPr lang="en-US" sz="2800">
                <a:solidFill>
                  <a:schemeClr val="accent3">
                    <a:lumMod val="60000"/>
                    <a:lumOff val="40000"/>
                  </a:schemeClr>
                </a:solidFill>
                <a:latin typeface="Cooper Black" panose="0208090404030B020404" charset="0"/>
                <a:ea typeface="Microsoft YaHei" panose="020B0503020204020204" charset="-122"/>
                <a:cs typeface="Cooper Black" panose="0208090404030B020404" charset="0"/>
              </a:rPr>
              <a:t>Cyber Crimes are increasing day by day.</a:t>
            </a:r>
            <a:endParaRPr lang="en-US" sz="2800">
              <a:solidFill>
                <a:schemeClr val="accent3">
                  <a:lumMod val="60000"/>
                  <a:lumOff val="40000"/>
                </a:schemeClr>
              </a:solidFill>
              <a:latin typeface="Cooper Black" panose="0208090404030B020404" charset="0"/>
              <a:ea typeface="Microsoft YaHei" panose="020B0503020204020204" charset="-122"/>
              <a:cs typeface="Cooper Black" panose="0208090404030B020404" charset="0"/>
            </a:endParaRPr>
          </a:p>
          <a:p>
            <a:pPr marL="342900" indent="-342900" algn="l">
              <a:buAutoNum type="arabicPeriod"/>
            </a:pPr>
            <a:r>
              <a:rPr lang="en-US" sz="2800">
                <a:solidFill>
                  <a:schemeClr val="accent3">
                    <a:lumMod val="60000"/>
                    <a:lumOff val="40000"/>
                  </a:schemeClr>
                </a:solidFill>
                <a:latin typeface="Cooper Black" panose="0208090404030B020404" charset="0"/>
                <a:ea typeface="Microsoft YaHei" panose="020B0503020204020204" charset="-122"/>
                <a:cs typeface="Cooper Black" panose="0208090404030B020404" charset="0"/>
              </a:rPr>
              <a:t>Difficult to analyze .</a:t>
            </a:r>
            <a:endParaRPr lang="en-US" sz="2800">
              <a:solidFill>
                <a:schemeClr val="accent3">
                  <a:lumMod val="60000"/>
                  <a:lumOff val="40000"/>
                </a:schemeClr>
              </a:solidFill>
              <a:latin typeface="Cooper Black" panose="0208090404030B020404" charset="0"/>
              <a:ea typeface="Microsoft YaHei" panose="020B0503020204020204" charset="-122"/>
              <a:cs typeface="Cooper Black" panose="0208090404030B020404" charset="0"/>
            </a:endParaRPr>
          </a:p>
          <a:p>
            <a:pPr marL="342900" indent="-342900" algn="l">
              <a:buAutoNum type="arabicPeriod"/>
            </a:pPr>
            <a:r>
              <a:rPr lang="en-US" sz="2800">
                <a:solidFill>
                  <a:schemeClr val="accent3">
                    <a:lumMod val="60000"/>
                    <a:lumOff val="40000"/>
                  </a:schemeClr>
                </a:solidFill>
                <a:latin typeface="Cooper Black" panose="0208090404030B020404" charset="0"/>
                <a:ea typeface="Microsoft YaHei" panose="020B0503020204020204" charset="-122"/>
                <a:cs typeface="Cooper Black" panose="0208090404030B020404" charset="0"/>
              </a:rPr>
              <a:t>Needs  for data driven insights to improve decision making.</a:t>
            </a:r>
            <a:endParaRPr lang="en-US" sz="2800">
              <a:solidFill>
                <a:schemeClr val="accent3">
                  <a:lumMod val="60000"/>
                  <a:lumOff val="40000"/>
                </a:schemeClr>
              </a:solidFill>
              <a:latin typeface="Cooper Black" panose="0208090404030B020404" charset="0"/>
              <a:ea typeface="Microsoft YaHei" panose="020B0503020204020204" charset="-122"/>
              <a:cs typeface="Cooper Black" panose="0208090404030B020404" charset="0"/>
            </a:endParaRPr>
          </a:p>
          <a:p>
            <a:pPr marL="342900" indent="-342900" algn="l">
              <a:buAutoNum type="arabicPeriod"/>
            </a:pPr>
            <a:endParaRPr lang="en-US" sz="2800">
              <a:solidFill>
                <a:schemeClr val="accent3">
                  <a:lumMod val="60000"/>
                  <a:lumOff val="40000"/>
                </a:schemeClr>
              </a:solidFill>
              <a:latin typeface="Cooper Black" panose="0208090404030B020404" charset="0"/>
              <a:ea typeface="Microsoft YaHei" panose="020B0503020204020204" charset="-122"/>
              <a:cs typeface="Cooper Black" panose="0208090404030B0204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yber4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tretch>
            <a:fillRect/>
          </a:stretch>
        </p:blipFill>
        <p:spPr>
          <a:xfrm>
            <a:off x="273685" y="290830"/>
            <a:ext cx="8608060" cy="63074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07845" y="702310"/>
            <a:ext cx="5678170" cy="12700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6000" b="1" i="1">
                <a:latin typeface="Arial" panose="020B0604020202020204" pitchFamily="34" charset="0"/>
                <a:ea typeface="Microsoft YaHei" panose="020B0503020204020204" charset="-122"/>
              </a:rPr>
              <a:t>OBJECTIVES</a:t>
            </a:r>
            <a:endParaRPr lang="en-US" sz="6000" b="1" i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10945" y="2260600"/>
            <a:ext cx="6631305" cy="401193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Identify major cyber crime categories(phishing,ransomware..)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Identify yearly trends(2018-2024)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Visualize attack frequency and impact.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Suggest preventive measures.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i="1" dirty="0" smtClean="0">
                <a:solidFill>
                  <a:schemeClr val="tx1"/>
                </a:solidFill>
              </a:rPr>
              <a:t>                                                         Methodology</a:t>
            </a:r>
            <a:endParaRPr lang="en-US" sz="3200" b="1" i="1" dirty="0" smtClean="0">
              <a:solidFill>
                <a:schemeClr val="tx1"/>
              </a:solidFill>
            </a:endParaRPr>
          </a:p>
          <a:p>
            <a:pPr marL="0" lvl="0" indent="0" algn="ctr">
              <a:buNone/>
            </a:pPr>
            <a:r>
              <a:rPr lang="en-US" sz="3200" b="1" i="1" dirty="0" smtClean="0">
                <a:solidFill>
                  <a:schemeClr val="tx1"/>
                </a:solidFill>
              </a:rPr>
              <a:t>.</a:t>
            </a:r>
            <a:r>
              <a:rPr lang="en-US" sz="3200" b="1" i="1" dirty="0" smtClean="0">
                <a:solidFill>
                  <a:srgbClr val="FF0000"/>
                </a:solidFill>
              </a:rPr>
              <a:t>Dataset</a:t>
            </a:r>
            <a:r>
              <a:rPr lang="en-US" sz="3200" b="1" i="1" dirty="0" smtClean="0">
                <a:solidFill>
                  <a:schemeClr val="tx1"/>
                </a:solidFill>
              </a:rPr>
              <a:t>:Cyber Crime record(2018-2024)</a:t>
            </a:r>
            <a:endParaRPr lang="en-US" sz="3200" b="1" i="1" dirty="0" smtClean="0">
              <a:solidFill>
                <a:schemeClr val="tx1"/>
              </a:solidFill>
            </a:endParaRPr>
          </a:p>
          <a:p>
            <a:pPr marL="0" lvl="0" indent="0" algn="ctr">
              <a:buNone/>
            </a:pPr>
            <a:r>
              <a:rPr lang="en-US" sz="3200" b="1" i="1" dirty="0" smtClean="0">
                <a:solidFill>
                  <a:schemeClr val="tx1"/>
                </a:solidFill>
              </a:rPr>
              <a:t>.</a:t>
            </a:r>
            <a:r>
              <a:rPr lang="en-US" sz="3200" b="1" i="1" dirty="0" smtClean="0">
                <a:solidFill>
                  <a:srgbClr val="00B050"/>
                </a:solidFill>
              </a:rPr>
              <a:t>Tools</a:t>
            </a:r>
            <a:r>
              <a:rPr lang="en-US" sz="3200" b="1" i="1" dirty="0" smtClean="0">
                <a:solidFill>
                  <a:schemeClr val="tx1"/>
                </a:solidFill>
              </a:rPr>
              <a:t>:Python,Pandas, Matplotlib,Seaborn,Streamlit</a:t>
            </a:r>
            <a:endParaRPr lang="en-US" sz="3200" b="1" i="1" dirty="0" smtClean="0">
              <a:solidFill>
                <a:schemeClr val="tx1"/>
              </a:solidFill>
            </a:endParaRPr>
          </a:p>
          <a:p>
            <a:pPr marL="0" lvl="0" indent="0" algn="ctr">
              <a:buNone/>
            </a:pPr>
            <a:r>
              <a:rPr lang="en-US" sz="3200" b="1" i="1" dirty="0">
                <a:solidFill>
                  <a:srgbClr val="7030A0"/>
                </a:solidFill>
              </a:rPr>
              <a:t>Approach</a:t>
            </a:r>
            <a:r>
              <a:rPr lang="en-US" sz="3200" b="1" i="1" dirty="0">
                <a:solidFill>
                  <a:schemeClr val="tx1"/>
                </a:solidFill>
              </a:rPr>
              <a:t>:</a:t>
            </a:r>
            <a:endParaRPr lang="en-US" sz="3200" b="1" i="1" dirty="0">
              <a:solidFill>
                <a:schemeClr val="tx1"/>
              </a:solidFill>
            </a:endParaRPr>
          </a:p>
          <a:p>
            <a:pPr algn="ctr"/>
            <a:r>
              <a:rPr lang="en-US" sz="3200" b="1" i="1" dirty="0" smtClean="0">
                <a:solidFill>
                  <a:schemeClr val="tx1"/>
                </a:solidFill>
              </a:rPr>
              <a:t>Data cleaning-&gt;Analysis-&gt;Visualization-&gt;Dashboard</a:t>
            </a:r>
            <a:endParaRPr lang="en-US" sz="3200" b="1" i="1" dirty="0" smtClean="0">
              <a:solidFill>
                <a:schemeClr val="tx1"/>
              </a:solidFill>
            </a:endParaRPr>
          </a:p>
          <a:p>
            <a:pPr algn="ctr"/>
            <a:endParaRPr lang="en-US" sz="3200" b="1" i="1" dirty="0">
              <a:solidFill>
                <a:schemeClr val="tx1"/>
              </a:solidFill>
            </a:endParaRPr>
          </a:p>
          <a:p>
            <a:pPr algn="ctr"/>
            <a:endParaRPr lang="en-US" sz="4400" b="1" i="1" dirty="0" smtClean="0">
              <a:solidFill>
                <a:schemeClr val="tx1"/>
              </a:solidFill>
            </a:endParaRPr>
          </a:p>
          <a:p>
            <a:pPr algn="ctr"/>
            <a:r>
              <a:rPr lang="en-US" sz="6600" b="1" i="1" dirty="0" smtClean="0">
                <a:solidFill>
                  <a:schemeClr val="tx1"/>
                </a:solidFill>
              </a:rPr>
              <a:t> </a:t>
            </a:r>
            <a:endParaRPr lang="en-US" sz="6600" b="1" i="1" dirty="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-1527175" y="-457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b="1" i="1" dirty="0">
              <a:solidFill>
                <a:schemeClr val="tx1"/>
              </a:solidFill>
            </a:endParaRPr>
          </a:p>
          <a:p>
            <a:pPr algn="ctr"/>
            <a:endParaRPr lang="en-US" sz="5400" b="1" i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800" y="1200150"/>
            <a:ext cx="6052820" cy="38608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605790" y="292735"/>
            <a:ext cx="7735570" cy="69977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3600" b="1" i="1">
                <a:latin typeface="Arial" panose="020B0604020202020204" pitchFamily="34" charset="0"/>
                <a:ea typeface="Microsoft YaHei" panose="020B0503020204020204" charset="-122"/>
              </a:rPr>
              <a:t>KEY FINDINGS AND VISUALS</a:t>
            </a:r>
            <a:endParaRPr lang="en-US" sz="3600" b="1" i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245235" y="5267960"/>
            <a:ext cx="6699250" cy="15494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</a:t>
            </a:r>
            <a:r>
              <a:rPr lang="en-US" sz="2400">
                <a:latin typeface="Arial" panose="020B0604020202020204" pitchFamily="34" charset="0"/>
                <a:ea typeface="Microsoft YaHei" panose="020B0503020204020204" charset="-122"/>
              </a:rPr>
              <a:t>IT industry recorded the highest number of cyber attacks.</a:t>
            </a:r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2400">
                <a:latin typeface="Arial" panose="020B0604020202020204" pitchFamily="34" charset="0"/>
                <a:ea typeface="Microsoft YaHei" panose="020B0503020204020204" charset="-122"/>
              </a:rPr>
              <a:t>.Cyber attacks distributed across all industries, indicating that no sector is completely safe.</a:t>
            </a:r>
            <a:endParaRPr lang="en-US" sz="24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"/>
            <a:ext cx="9172575" cy="6843713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400" b="1" i="1" u="sng" dirty="0" smtClean="0">
              <a:solidFill>
                <a:srgbClr val="002060"/>
              </a:solidFill>
            </a:endParaRPr>
          </a:p>
          <a:p>
            <a:pPr algn="ctr"/>
            <a:endParaRPr lang="en-US" sz="4400" b="1" i="1" u="sng" dirty="0">
              <a:solidFill>
                <a:srgbClr val="002060"/>
              </a:solidFill>
            </a:endParaRPr>
          </a:p>
          <a:p>
            <a:pPr algn="ctr"/>
            <a:endParaRPr lang="en-US" sz="4400" b="1" i="1" u="sng" dirty="0" smtClean="0">
              <a:solidFill>
                <a:srgbClr val="002060"/>
              </a:solidFill>
            </a:endParaRPr>
          </a:p>
        </p:txBody>
      </p:sp>
      <p:sp>
        <p:nvSpPr>
          <p:cNvPr id="3" name="AutoShape 2" descr="Women Against Pornograph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4" name="AutoShape 4" descr="Women Against Pornograph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5" name="AutoShape 6" descr="Women Against Pornography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8" descr="Women Against Pornography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pic>
        <p:nvPicPr>
          <p:cNvPr id="7" name="Picture 6" descr="cyber6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18415"/>
            <a:ext cx="9144000" cy="68256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" y="1121410"/>
            <a:ext cx="6936740" cy="368300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962785" y="313690"/>
            <a:ext cx="5495290" cy="50863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2800" b="1">
                <a:latin typeface="Arial" panose="020B0604020202020204" pitchFamily="34" charset="0"/>
                <a:ea typeface="Microsoft YaHei" panose="020B0503020204020204" charset="-122"/>
              </a:rPr>
              <a:t>Attack source Analysis</a:t>
            </a:r>
            <a:endParaRPr lang="en-US" sz="2800" b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111250" y="5194935"/>
            <a:ext cx="7047865" cy="13538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.Nation state attacks are most frequent.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.Unknown and Insider attacks are also most common.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.Organizations need protection against wider range of cyber threats.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8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52070" y="0"/>
            <a:ext cx="9281160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13765" y="182880"/>
            <a:ext cx="7399655" cy="8477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tx1"/>
                </a:solidFill>
              </a:rPr>
              <a:t>Security vulnerability Distribution </a:t>
            </a:r>
            <a:endParaRPr lang="en-US" sz="2800" b="1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65" y="1102995"/>
            <a:ext cx="7209155" cy="33813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913130" y="4773930"/>
            <a:ext cx="7399655" cy="167068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.zero day vulnerability are among the most common.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.No single defense mechanism completely prevent all type of vulnerabilities.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yber5"/>
          <p:cNvPicPr>
            <a:picLocks noChangeAspect="1"/>
          </p:cNvPicPr>
          <p:nvPr/>
        </p:nvPicPr>
        <p:blipFill>
          <a:blip r:embed="rId1">
            <a:lum bright="70000" contrast="-70000"/>
          </a:blip>
          <a:stretch>
            <a:fillRect/>
          </a:stretch>
        </p:blipFill>
        <p:spPr>
          <a:xfrm>
            <a:off x="324485" y="320675"/>
            <a:ext cx="8496935" cy="61715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320800" y="901065"/>
            <a:ext cx="6562090" cy="11531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Financial Loss by attack id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602105" y="4922520"/>
            <a:ext cx="6169025" cy="103441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70" y="1604645"/>
            <a:ext cx="6753225" cy="364807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153160" y="5502910"/>
            <a:ext cx="6898640" cy="91122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1800">
                <a:latin typeface="Arial" panose="020B0604020202020204" pitchFamily="34" charset="0"/>
                <a:ea typeface="Microsoft YaHei" panose="020B0503020204020204" charset="-122"/>
              </a:rPr>
              <a:t>.</a:t>
            </a:r>
            <a:endParaRPr lang="en-US" sz="1800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4"/>
          <p:cNvPicPr>
            <a:picLocks noChangeAspect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1630" y="414020"/>
            <a:ext cx="8451215" cy="606425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548130" y="949960"/>
            <a:ext cx="5434965" cy="102806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7200">
                <a:solidFill>
                  <a:schemeClr val="tx1"/>
                </a:solidFill>
                <a:highlight>
                  <a:srgbClr val="C0C0C0"/>
                </a:highlight>
                <a:latin typeface="Cooper Black" panose="0208090404030B020404" charset="0"/>
                <a:ea typeface="Microsoft YaHei" panose="020B0503020204020204" charset="-122"/>
                <a:cs typeface="Cooper Black" panose="0208090404030B020404" charset="0"/>
              </a:rPr>
              <a:t>Conclusion</a:t>
            </a:r>
            <a:endParaRPr lang="en-US" sz="7200">
              <a:solidFill>
                <a:schemeClr val="tx1"/>
              </a:solidFill>
              <a:highlight>
                <a:srgbClr val="C0C0C0"/>
              </a:highlight>
              <a:latin typeface="Cooper Black" panose="0208090404030B020404" charset="0"/>
              <a:ea typeface="Microsoft YaHei" panose="020B0503020204020204" charset="-122"/>
              <a:cs typeface="Cooper Black" panose="0208090404030B0204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22655" y="2489200"/>
            <a:ext cx="7372985" cy="285750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>
                <a:highlight>
                  <a:srgbClr val="C0C0C0"/>
                </a:highlight>
                <a:latin typeface="Arial" panose="020B0604020202020204" pitchFamily="34" charset="0"/>
                <a:ea typeface="Microsoft YaHei" panose="020B0503020204020204" charset="-122"/>
              </a:rPr>
              <a:t>The analysis highlighted the most common attack sources,target industries,financial losses and security vulnerabilities.</a:t>
            </a:r>
            <a:endParaRPr lang="en-US" sz="2400" b="1">
              <a:highlight>
                <a:srgbClr val="C0C0C0"/>
              </a:highlight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>
                <a:highlight>
                  <a:srgbClr val="C0C0C0"/>
                </a:highlight>
                <a:latin typeface="Arial" panose="020B0604020202020204" pitchFamily="34" charset="0"/>
                <a:ea typeface="Microsoft YaHei" panose="020B0503020204020204" charset="-122"/>
              </a:rPr>
              <a:t>The findings can help organizations understand cyber threats and improve their security strategies.</a:t>
            </a:r>
            <a:endParaRPr lang="en-US" sz="2400" b="1">
              <a:highlight>
                <a:srgbClr val="C0C0C0"/>
              </a:highlight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1">
                <a:highlight>
                  <a:srgbClr val="C0C0C0"/>
                </a:highlight>
                <a:latin typeface="Arial" panose="020B0604020202020204" pitchFamily="34" charset="0"/>
                <a:ea typeface="Microsoft YaHei" panose="020B0503020204020204" charset="-122"/>
              </a:rPr>
              <a:t>.Overall,project achieved its objective of transforming raw data into meaningful insights for better decision making.</a:t>
            </a:r>
            <a:endParaRPr lang="en-US" sz="2400" b="1">
              <a:highlight>
                <a:srgbClr val="C0C0C0"/>
              </a:highlight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yber6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3695" y="286385"/>
            <a:ext cx="8502015" cy="61887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885315" y="856615"/>
            <a:ext cx="5147945" cy="105029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sz="6000" b="1" i="1">
                <a:latin typeface="Arial" panose="020B0604020202020204" pitchFamily="34" charset="0"/>
                <a:ea typeface="Microsoft YaHei" panose="020B0503020204020204" charset="-122"/>
              </a:rPr>
              <a:t>Future Scope</a:t>
            </a:r>
            <a:endParaRPr lang="en-US" sz="6000" b="1" i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62330" y="2228215"/>
            <a:ext cx="7329805" cy="36404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marL="342900" indent="-342900" algn="l">
              <a:buAutoNum type="arabicPeriod"/>
            </a:pPr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Apply Machine Learning models to predict future cyber attacks.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  <a:p>
            <a:pPr marL="342900" indent="-342900" algn="l">
              <a:buAutoNum type="arabicPeriod"/>
            </a:pPr>
            <a:r>
              <a:rPr lang="en-US" sz="3200" b="1">
                <a:latin typeface="Arial" panose="020B0604020202020204" pitchFamily="34" charset="0"/>
                <a:ea typeface="Microsoft YaHei" panose="020B0503020204020204" charset="-122"/>
              </a:rPr>
              <a:t>Perform advanced analytics using larger datsets.</a:t>
            </a:r>
            <a:endParaRPr lang="en-US" sz="3200" b="1">
              <a:latin typeface="Arial" panose="020B0604020202020204" pitchFamily="34" charset="0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1"/>
            <a:tile tx="0" ty="0" sx="100000" sy="100000" flip="none" algn="tl"/>
          </a:blipFill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600" b="1" i="1" dirty="0" smtClean="0">
                <a:solidFill>
                  <a:schemeClr val="tx1"/>
                </a:solidFill>
                <a:latin typeface="Brush Script MT" panose="03060802040406070304" pitchFamily="66" charset="0"/>
              </a:rPr>
              <a:t>Thank You</a:t>
            </a:r>
            <a:endParaRPr lang="en-US" sz="16600" b="1" i="1" dirty="0">
              <a:solidFill>
                <a:schemeClr val="tx1"/>
              </a:solidFill>
              <a:latin typeface="Brush Script MT" panose="03060802040406070304" pitchFamily="66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0</TotalTime>
  <Words>1778</Words>
  <Application>WPS Presentation</Application>
  <PresentationFormat>On-screen Show (4:3)</PresentationFormat>
  <Paragraphs>76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Wingdings 2</vt:lpstr>
      <vt:lpstr>Verdana</vt:lpstr>
      <vt:lpstr>Microsoft YaHei</vt:lpstr>
      <vt:lpstr>Algerian</vt:lpstr>
      <vt:lpstr>Cooper Black</vt:lpstr>
      <vt:lpstr>Brush Script MT</vt:lpstr>
      <vt:lpstr>Arial Unicode MS</vt:lpstr>
      <vt:lpstr>Calibri</vt:lpstr>
      <vt:lpstr>Aspect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31</cp:revision>
  <dcterms:created xsi:type="dcterms:W3CDTF">2024-10-07T13:44:00Z</dcterms:created>
  <dcterms:modified xsi:type="dcterms:W3CDTF">2026-07-04T04:10:16Z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75CB8F29F115473E8802BBB7C0E2FBD2_13</vt:lpwstr>
  </property>
  <property fmtid="{D5CDD505-2E9C-101B-9397-08002B2CF9AE}" pid="3" name="KSOProductBuildVer">
    <vt:lpwstr>1033-12.1.0.26880</vt:lpwstr>
  </property>
</Properties>
</file>